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9010313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460" userDrawn="1">
          <p15:clr>
            <a:srgbClr val="A4A3A4"/>
          </p15:clr>
        </p15:guide>
        <p15:guide id="4" orient="horz" pos="4952" userDrawn="1">
          <p15:clr>
            <a:srgbClr val="A4A3A4"/>
          </p15:clr>
        </p15:guide>
        <p15:guide id="5" pos="660" userDrawn="1">
          <p15:clr>
            <a:srgbClr val="A4A3A4"/>
          </p15:clr>
        </p15:guide>
        <p15:guide id="6" pos="59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E3B525"/>
    <a:srgbClr val="009EF3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41" autoAdjust="0"/>
    <p:restoredTop sz="94682" autoAdjust="0"/>
  </p:normalViewPr>
  <p:slideViewPr>
    <p:cSldViewPr>
      <p:cViewPr varScale="1">
        <p:scale>
          <a:sx n="53" d="100"/>
          <a:sy n="53" d="100"/>
        </p:scale>
        <p:origin x="648" y="67"/>
      </p:cViewPr>
      <p:guideLst>
        <p:guide orient="horz" pos="344"/>
        <p:guide pos="11460"/>
        <p:guide orient="horz" pos="4952"/>
        <p:guide pos="660"/>
        <p:guide pos="59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7" d="100"/>
          <a:sy n="47" d="100"/>
        </p:scale>
        <p:origin x="293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B946A3-76A1-4F27-921C-DAB0E495E5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7EE4B-E01C-4D1F-B05A-BB57F01CAA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D92E0-5330-4EA0-AE47-CB56A73A0B2F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589E6-8F6E-489B-A1AC-F5D074117D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73BE2-5BC0-4323-A587-A14F43AEAA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73C24-77A2-47FA-A72C-AD3434E6D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256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2T10:35:07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2T10:36:42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08.07.2025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1FB8-12B8-5DBA-ABA5-35B816D9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DBB8D-02CC-FB58-13F6-79D91BAFB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7CA91-3AEB-A7B4-B16D-0EE680EC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7A583-42B2-09F4-4530-DFC8B2A2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2AB67-7C1D-3E29-0C77-83B15C2E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57093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0C1F-6489-12D5-557B-5ED6BA80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03D53-1970-423E-C6C1-33FC2C91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1F437-D6B4-3116-6CDB-6E4A5B84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71818-9020-4445-8B08-F0BF46B2FEC8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98431-D406-29EC-2C37-01D73627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64B82-EBBC-BC1D-F28F-47F2351B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0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067E-5171-04AB-BA6F-3D807CA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7EE1C-78CF-9C72-2455-8614CF2CD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82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26201-B0DC-FDC3-11F1-9CE58E2A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F4EB6-BC86-5DB8-3E6C-EF72E207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892C8-AAD0-BCC1-4445-4F583244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2642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4FE9-B4C5-22E5-E4EC-A67B465D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19749-BA63-6196-2CBB-0C832D607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2675E-6443-C976-1EE3-D017633F3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44D87-7806-FA11-E86C-D32705BB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86417-C0C2-DAB7-197E-0DC3D411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96A3A-8DA1-FD2D-FD0B-340F0B7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26389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5BA3-6499-A3AD-564C-A5F9F86D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DA96C-7670-7C08-3781-67003F6EF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86DFC-2723-A545-6655-41BB903D3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E05BC-36EA-7F65-8593-2F18D91F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1A707-1B5E-3432-8263-F17E26283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CC006-615D-8B88-4799-F8383935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B7E43-A93B-0D87-65A4-56330785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8F5D2-9205-C2E3-8628-5913824E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13820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439A-2BAA-D289-3D7A-1FEB4EEC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B93AF-EE0A-CDE6-7056-EB6E161A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7794A-9DA5-E160-47D6-46D119DD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1929B-E969-9E4D-8D1B-D10772E9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513702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D3E16-C5AE-EC04-D196-048D63C25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C8CFA-AEDB-DD76-2854-BC62B310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13EDA-CE16-897E-5FE8-BF05D3E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91647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9E94-F16E-0088-85F9-04188E8B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8064-1844-8C70-1112-45A8DCC3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3D11D-19B1-A977-CCF6-E7AD4A8DE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CC75F-2199-E606-4679-21DE22F8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ED72B-8770-336F-3750-B3F0105E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77B07-4F73-49C6-73D2-286013F1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993137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1C63-C5F9-2E42-FBB4-B67D553A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07C47-E334-C442-64C4-E4F98C4A9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6CC61-A89F-9106-77B0-43C7B138C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4AE37-6FF4-94B5-AEE3-CC89DAAA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704D-73F8-3902-A3A0-32A36439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76B43-DAF3-1557-4852-6C6DEED2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588750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648B-3129-0DB1-2878-79D010C6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1E526-1918-13CE-3FBD-029AE9CDE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C7866-3BCC-18DD-C26C-DE95B2E6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4AE93-B4EC-E82D-29BC-CB134352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BADB6-9ABD-C7B8-85D3-145D530D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84045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97FDA-D8F7-30B4-E870-3C2D61C62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C8598-9273-0AEE-8A5E-611B93A9C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3CC51-F693-2551-DF65-EF7F9386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46AC-1B5F-D4F0-A899-24A57381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E1FD8-3E55-2F10-1CB7-8730F690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485349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9BF97-2E16-4257-BDA7-D5A7BEFB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1AFC-9F3B-438B-B10C-E9A9073FAD5F}" type="datetime1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A0A67-B437-4EA6-8377-F0E6167F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B5BA1-8791-456F-B896-A68E8562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2F713B7-3969-431A-945B-0B6447D0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513" y="868343"/>
            <a:ext cx="16397287" cy="16986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0AEC5C-AA2F-4FC8-A243-98F784E2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513" y="2846388"/>
            <a:ext cx="16397287" cy="6784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1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C5099-346B-917A-54D2-9BFB1CAC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F5C3C-843C-B39F-41CF-6F632ED18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6798-DEC2-5090-D1EB-03D2E7E2C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58D55-FBFA-419D-B507-FB17C344CD39}" type="datetime1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D8AC-599E-02C5-08E7-02EB63445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694A-4725-074F-AE6F-CB3EA95D7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CF5C-16A0-4876-B638-15BC6385E45C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42D5E1-578E-C74B-2E0A-A59742EA6597}"/>
              </a:ext>
            </a:extLst>
          </p:cNvPr>
          <p:cNvGrpSpPr/>
          <p:nvPr userDrawn="1"/>
        </p:nvGrpSpPr>
        <p:grpSpPr>
          <a:xfrm>
            <a:off x="0" y="2"/>
            <a:ext cx="19010313" cy="569912"/>
            <a:chOff x="-324644" y="2222500"/>
            <a:chExt cx="22261685" cy="1302327"/>
          </a:xfrm>
        </p:grpSpPr>
        <p:sp>
          <p:nvSpPr>
            <p:cNvPr id="8" name="object 2">
              <a:extLst>
                <a:ext uri="{FF2B5EF4-FFF2-40B4-BE49-F238E27FC236}">
                  <a16:creationId xmlns:a16="http://schemas.microsoft.com/office/drawing/2014/main" id="{EBE53F04-74D3-4584-3780-9E36D31D9B63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5C2866FB-42CA-3162-7140-F334A679F18B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9BCDFA60-CC9F-6234-1505-4A553A781189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2">
              <a:extLst>
                <a:ext uri="{FF2B5EF4-FFF2-40B4-BE49-F238E27FC236}">
                  <a16:creationId xmlns:a16="http://schemas.microsoft.com/office/drawing/2014/main" id="{E7D3012B-3B48-A8EB-8959-8E19D25805A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4">
            <a:extLst>
              <a:ext uri="{FF2B5EF4-FFF2-40B4-BE49-F238E27FC236}">
                <a16:creationId xmlns:a16="http://schemas.microsoft.com/office/drawing/2014/main" id="{1769797E-D31F-5573-2891-3B3ECCC4B34F}"/>
              </a:ext>
            </a:extLst>
          </p:cNvPr>
          <p:cNvSpPr txBox="1"/>
          <p:nvPr userDrawn="1"/>
        </p:nvSpPr>
        <p:spPr>
          <a:xfrm>
            <a:off x="818356" y="222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IN" sz="3200" spc="-10" dirty="0">
                <a:solidFill>
                  <a:srgbClr val="FFFFFF"/>
                </a:solidFill>
                <a:cs typeface="Source Sans Pro Light"/>
              </a:rPr>
              <a:t>5</a:t>
            </a:r>
            <a:r>
              <a:rPr sz="32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3200" spc="-50" dirty="0">
                <a:solidFill>
                  <a:srgbClr val="FFFFFF"/>
                </a:solidFill>
                <a:cs typeface="Source Sans Pro Light"/>
              </a:rPr>
              <a:t>M</a:t>
            </a:r>
            <a:r>
              <a:rPr sz="3200" dirty="0">
                <a:solidFill>
                  <a:srgbClr val="FFFFFF"/>
                </a:solidFill>
                <a:cs typeface="Source Sans Pro Light"/>
              </a:rPr>
              <a:t>in</a:t>
            </a:r>
            <a:endParaRPr sz="3200" dirty="0">
              <a:cs typeface="Source Sans Pro Light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4144E124-9ECF-9C02-1D8F-060D7131C020}"/>
              </a:ext>
            </a:extLst>
          </p:cNvPr>
          <p:cNvSpPr txBox="1"/>
          <p:nvPr userDrawn="1"/>
        </p:nvSpPr>
        <p:spPr>
          <a:xfrm>
            <a:off x="5657558" y="-539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95300">
              <a:spcBef>
                <a:spcPts val="690"/>
              </a:spcBef>
            </a:pPr>
            <a:r>
              <a:rPr lang="en-IN" sz="3200" spc="-10" dirty="0">
                <a:solidFill>
                  <a:srgbClr val="FFFFFF"/>
                </a:solidFill>
                <a:cs typeface="Source Sans Pro Light"/>
              </a:rPr>
              <a:t>AIML</a:t>
            </a:r>
            <a:endParaRPr sz="3200" dirty="0">
              <a:cs typeface="Source Sans Pro Light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38F86480-F64D-B33C-FE4D-4B5544B4BF6D}"/>
              </a:ext>
            </a:extLst>
          </p:cNvPr>
          <p:cNvSpPr txBox="1"/>
          <p:nvPr userDrawn="1"/>
        </p:nvSpPr>
        <p:spPr>
          <a:xfrm>
            <a:off x="10419556" y="-539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IN" sz="3200" spc="-5" dirty="0">
                <a:solidFill>
                  <a:srgbClr val="FFFFFF"/>
                </a:solidFill>
                <a:cs typeface="Source Sans Pro Light"/>
              </a:rPr>
              <a:t>Credit</a:t>
            </a:r>
            <a:r>
              <a:rPr sz="3200" spc="-5" dirty="0">
                <a:solidFill>
                  <a:srgbClr val="FFFFFF"/>
                </a:solidFill>
                <a:cs typeface="Source Sans Pro Light"/>
              </a:rPr>
              <a:t>: </a:t>
            </a:r>
            <a:r>
              <a:rPr lang="en-IN" sz="3200" spc="-5" dirty="0">
                <a:solidFill>
                  <a:srgbClr val="FFFFFF"/>
                </a:solidFill>
                <a:cs typeface="Source Sans Pro Light"/>
              </a:rPr>
              <a:t>4</a:t>
            </a:r>
            <a:endParaRPr sz="3200" dirty="0">
              <a:cs typeface="Source Sans Pro Light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CF2F14B0-CA0F-BF69-EBDA-6EC7AF8E853B}"/>
              </a:ext>
            </a:extLst>
          </p:cNvPr>
          <p:cNvSpPr txBox="1"/>
          <p:nvPr userDrawn="1"/>
        </p:nvSpPr>
        <p:spPr>
          <a:xfrm>
            <a:off x="15601156" y="22300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3200" spc="-15" dirty="0">
                <a:solidFill>
                  <a:srgbClr val="FFFFFF"/>
                </a:solidFill>
                <a:cs typeface="Source Sans Pro Light"/>
              </a:rPr>
              <a:t>CN | AI3103</a:t>
            </a:r>
            <a:endParaRPr sz="32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24018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ft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818356" y="3174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1</a:t>
            </a:r>
            <a:r>
              <a:rPr lang="en-IN" sz="3200" spc="-10" dirty="0">
                <a:solidFill>
                  <a:srgbClr val="FFFFFF"/>
                </a:solidFill>
                <a:cs typeface="Source Sans Pro Light"/>
              </a:rPr>
              <a:t>5</a:t>
            </a:r>
            <a:r>
              <a:rPr lang="en-IN" sz="3200" spc="-50" dirty="0">
                <a:solidFill>
                  <a:srgbClr val="FFFFFF"/>
                </a:solidFill>
                <a:cs typeface="Source Sans Pro Light"/>
              </a:rPr>
              <a:t> M</a:t>
            </a:r>
            <a:r>
              <a:rPr sz="3200" dirty="0">
                <a:solidFill>
                  <a:srgbClr val="FFFFFF"/>
                </a:solidFill>
                <a:cs typeface="Source Sans Pro Light"/>
              </a:rPr>
              <a:t>in</a:t>
            </a:r>
            <a:endParaRPr sz="3200" dirty="0">
              <a:cs typeface="Source Sans Pro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19556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IN" sz="3200" spc="-5" dirty="0">
                <a:solidFill>
                  <a:srgbClr val="FFFFFF"/>
                </a:solidFill>
                <a:cs typeface="Source Sans Pro Light"/>
              </a:rPr>
              <a:t>Credit</a:t>
            </a:r>
            <a:r>
              <a:rPr sz="3200" spc="-5" dirty="0">
                <a:solidFill>
                  <a:srgbClr val="FFFFFF"/>
                </a:solidFill>
                <a:cs typeface="Source Sans Pro Light"/>
              </a:rPr>
              <a:t>: </a:t>
            </a:r>
            <a:r>
              <a:rPr lang="en-IN" sz="3200" spc="-5" dirty="0">
                <a:solidFill>
                  <a:srgbClr val="FFFFFF"/>
                </a:solidFill>
                <a:cs typeface="Source Sans Pro Light"/>
              </a:rPr>
              <a:t>12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45716" y="317500"/>
            <a:ext cx="38405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3200" spc="-15" dirty="0">
                <a:solidFill>
                  <a:srgbClr val="FFFFFF"/>
                </a:solidFill>
                <a:cs typeface="Source Sans Pro Light"/>
              </a:rPr>
              <a:t>      Major Project </a:t>
            </a:r>
            <a:endParaRPr sz="3200" dirty="0">
              <a:cs typeface="Source Sans Pro Light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4037F47-2839-426C-A6B3-5AA4704ACB7A}"/>
              </a:ext>
            </a:extLst>
          </p:cNvPr>
          <p:cNvSpPr txBox="1">
            <a:spLocks/>
          </p:cNvSpPr>
          <p:nvPr/>
        </p:nvSpPr>
        <p:spPr>
          <a:xfrm>
            <a:off x="6573667" y="7362924"/>
            <a:ext cx="6313606" cy="1609452"/>
          </a:xfrm>
          <a:prstGeom prst="rect">
            <a:avLst/>
          </a:prstGeom>
        </p:spPr>
        <p:txBody>
          <a:bodyPr>
            <a:norm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0A618-D23E-423D-BEBF-32CBD976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1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2062731-4BC0-4A92-9669-D96997ECFC49}"/>
                  </a:ext>
                </a:extLst>
              </p14:cNvPr>
              <p14:cNvContentPartPr/>
              <p14:nvPr/>
            </p14:nvContentPartPr>
            <p14:xfrm>
              <a:off x="2659876" y="552554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2062731-4BC0-4A92-9669-D96997ECFC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0876" y="55165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A48C76-FFA4-4101-9E8E-33EE91B7C160}"/>
                  </a:ext>
                </a:extLst>
              </p14:cNvPr>
              <p14:cNvContentPartPr/>
              <p14:nvPr/>
            </p14:nvContentPartPr>
            <p14:xfrm>
              <a:off x="3760756" y="56706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A48C76-FFA4-4101-9E8E-33EE91B7C1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1756" y="566162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ubtitle 3">
            <a:extLst>
              <a:ext uri="{FF2B5EF4-FFF2-40B4-BE49-F238E27FC236}">
                <a16:creationId xmlns:a16="http://schemas.microsoft.com/office/drawing/2014/main" id="{852A6EE4-C764-FA26-92B8-47D89E3DDC6F}"/>
              </a:ext>
            </a:extLst>
          </p:cNvPr>
          <p:cNvSpPr>
            <a:spLocks noGrp="1"/>
          </p:cNvSpPr>
          <p:nvPr/>
        </p:nvSpPr>
        <p:spPr>
          <a:xfrm>
            <a:off x="12385476" y="6170810"/>
            <a:ext cx="4888581" cy="1408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Apoorv Raj Dubey</a:t>
            </a:r>
          </a:p>
          <a:p>
            <a:r>
              <a:rPr lang="en-US" dirty="0">
                <a:solidFill>
                  <a:schemeClr val="tx1"/>
                </a:solidFill>
              </a:rPr>
              <a:t>Reg. No</a:t>
            </a:r>
            <a:r>
              <a:rPr lang="en-US">
                <a:solidFill>
                  <a:schemeClr val="tx1"/>
                </a:solidFill>
              </a:rPr>
              <a:t>.-219310104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ubtitle 3">
            <a:extLst>
              <a:ext uri="{FF2B5EF4-FFF2-40B4-BE49-F238E27FC236}">
                <a16:creationId xmlns:a16="http://schemas.microsoft.com/office/drawing/2014/main" id="{D0B4349C-EA28-C343-1233-072D36BE98E4}"/>
              </a:ext>
            </a:extLst>
          </p:cNvPr>
          <p:cNvSpPr txBox="1">
            <a:spLocks/>
          </p:cNvSpPr>
          <p:nvPr/>
        </p:nvSpPr>
        <p:spPr>
          <a:xfrm>
            <a:off x="833264" y="6170810"/>
            <a:ext cx="4888581" cy="140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Submitted 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 Ravindra Kumar Soni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Professor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ubtitle 3">
            <a:extLst>
              <a:ext uri="{FF2B5EF4-FFF2-40B4-BE49-F238E27FC236}">
                <a16:creationId xmlns:a16="http://schemas.microsoft.com/office/drawing/2014/main" id="{4ED7D5E9-C5CE-21AF-0C68-6FD6BAF1D585}"/>
              </a:ext>
            </a:extLst>
          </p:cNvPr>
          <p:cNvSpPr txBox="1">
            <a:spLocks/>
          </p:cNvSpPr>
          <p:nvPr/>
        </p:nvSpPr>
        <p:spPr>
          <a:xfrm>
            <a:off x="3991725" y="8251905"/>
            <a:ext cx="11017224" cy="2098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School of  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Artificial Intelligence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 Learning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Manipal University Jaipur, India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2025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9" name="Picture 18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FFA163AA-943D-D473-9311-E2A8D72C8B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32" y="3320560"/>
            <a:ext cx="5717017" cy="1191393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7DE929CF-2E17-DBAC-7FDB-6EAAC3F16EA4}"/>
              </a:ext>
            </a:extLst>
          </p:cNvPr>
          <p:cNvSpPr>
            <a:spLocks noGrp="1"/>
          </p:cNvSpPr>
          <p:nvPr/>
        </p:nvSpPr>
        <p:spPr>
          <a:xfrm>
            <a:off x="-1" y="1365900"/>
            <a:ext cx="19010313" cy="1405076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SMART STOCK 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C578A-0FE1-FAF0-3D2B-217EB60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BBFD8A-5266-9FD2-7C68-FDE33263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63" y="882204"/>
            <a:ext cx="16397287" cy="1698646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b="1" dirty="0"/>
              <a:t>Project Introduction – Smart Stock Predictor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91B31-174C-FE5C-B076-FAF32C9FD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Smart Stock Predictor</a:t>
            </a:r>
            <a:r>
              <a:rPr lang="en-US" dirty="0"/>
              <a:t> is a deep learning–powered web application designed to forecast short-term stock price movements by analyzing:</a:t>
            </a:r>
          </a:p>
          <a:p>
            <a:r>
              <a:rPr lang="en-US" dirty="0"/>
              <a:t> </a:t>
            </a:r>
            <a:r>
              <a:rPr lang="en-US" b="1" dirty="0"/>
              <a:t>Historical stock data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Technical indicators</a:t>
            </a:r>
            <a:r>
              <a:rPr lang="en-US" dirty="0"/>
              <a:t> like SMA, EMA, RSI, MACD, Bollinger Bands, and more</a:t>
            </a:r>
          </a:p>
          <a:p>
            <a:r>
              <a:rPr lang="en-US" dirty="0"/>
              <a:t> </a:t>
            </a:r>
            <a:r>
              <a:rPr lang="en-US" b="1" dirty="0"/>
              <a:t>Real-time news sentiment</a:t>
            </a:r>
            <a:r>
              <a:rPr lang="en-US" dirty="0"/>
              <a:t> using Natural Language Processing (NLP)</a:t>
            </a:r>
          </a:p>
          <a:p>
            <a:r>
              <a:rPr lang="en-US" dirty="0"/>
              <a:t>It combines the power of two advanced AI models — </a:t>
            </a:r>
            <a:r>
              <a:rPr lang="en-US" b="1" dirty="0"/>
              <a:t>LSTM</a:t>
            </a:r>
            <a:r>
              <a:rPr lang="en-US" dirty="0"/>
              <a:t> and </a:t>
            </a:r>
            <a:r>
              <a:rPr lang="en-US" b="1" dirty="0"/>
              <a:t>Transformer</a:t>
            </a:r>
            <a:r>
              <a:rPr lang="en-US" dirty="0"/>
              <a:t> — trained on real market data enriched with technical and textual features.</a:t>
            </a:r>
          </a:p>
          <a:p>
            <a:r>
              <a:rPr lang="en-US" dirty="0"/>
              <a:t>Built with a </a:t>
            </a:r>
            <a:r>
              <a:rPr lang="en-US" b="1" dirty="0"/>
              <a:t>Django backend</a:t>
            </a:r>
            <a:r>
              <a:rPr lang="en-US" dirty="0"/>
              <a:t> and a </a:t>
            </a:r>
            <a:r>
              <a:rPr lang="en-US" b="1" dirty="0"/>
              <a:t>React frontend</a:t>
            </a:r>
            <a:r>
              <a:rPr lang="en-US" dirty="0"/>
              <a:t>, the system delivers:</a:t>
            </a:r>
          </a:p>
          <a:p>
            <a:r>
              <a:rPr lang="en-US" dirty="0"/>
              <a:t> Accurate AI-based price predictions</a:t>
            </a:r>
          </a:p>
          <a:p>
            <a:r>
              <a:rPr lang="en-US" dirty="0"/>
              <a:t> Interactive charts and visualizations</a:t>
            </a:r>
          </a:p>
          <a:p>
            <a:r>
              <a:rPr lang="en-US" dirty="0"/>
              <a:t> Real-time integration with NSE, </a:t>
            </a:r>
            <a:r>
              <a:rPr lang="en-US" dirty="0" err="1"/>
              <a:t>yFinance</a:t>
            </a:r>
            <a:r>
              <a:rPr lang="en-US" dirty="0"/>
              <a:t>, </a:t>
            </a:r>
            <a:r>
              <a:rPr lang="en-US" dirty="0" err="1"/>
              <a:t>NewsAPI</a:t>
            </a:r>
            <a:r>
              <a:rPr lang="en-US" dirty="0"/>
              <a:t>, and </a:t>
            </a:r>
            <a:r>
              <a:rPr lang="en-US" dirty="0" err="1"/>
              <a:t>GNews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22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4C2EA-59DC-CB0E-D7B0-2623D719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EDF52-D97C-C079-4D00-CF318DBB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Problem Statement &amp; Motivation</a:t>
            </a:r>
            <a:br>
              <a:rPr lang="en-IN" b="1" dirty="0"/>
            </a:br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A71D261-C146-3D99-7058-9893D2EC3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901031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6EA8F72-C98B-C8B3-23C8-4B99C306B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229" y="2390220"/>
            <a:ext cx="14653134" cy="803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stock prediction methods rely solely on historical price data and fail to adapt to market-moving factors like breaking news or public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are slow to react 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sudden market changes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ignore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drivers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fear, hype, or social buzz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do not combine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analysis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news-based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Arial" panose="020B0604020202020204" pitchFamily="34" charset="0"/>
              </a:rPr>
              <a:t> Motivation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" panose="020B0604020202020204" pitchFamily="34" charset="0"/>
              </a:rPr>
              <a:t>To build an intelligent system that captures both </a:t>
            </a:r>
            <a:r>
              <a:rPr lang="en-US" altLang="en-US" sz="3200" b="1" dirty="0">
                <a:latin typeface="Arial" panose="020B0604020202020204" pitchFamily="34" charset="0"/>
              </a:rPr>
              <a:t>quantitative patterns</a:t>
            </a:r>
            <a:r>
              <a:rPr lang="en-US" altLang="en-US" sz="3200" dirty="0">
                <a:latin typeface="Arial" panose="020B0604020202020204" pitchFamily="34" charset="0"/>
              </a:rPr>
              <a:t> and </a:t>
            </a:r>
            <a:r>
              <a:rPr lang="en-US" altLang="en-US" sz="3200" b="1" dirty="0">
                <a:latin typeface="Arial" panose="020B0604020202020204" pitchFamily="34" charset="0"/>
              </a:rPr>
              <a:t>qualitative context</a:t>
            </a:r>
            <a:r>
              <a:rPr lang="en-US" altLang="en-US" sz="3200" dirty="0">
                <a:latin typeface="Arial" panose="020B0604020202020204" pitchFamily="34" charset="0"/>
              </a:rPr>
              <a:t> for more accurate and realistic stock predictions.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Integrate </a:t>
            </a:r>
            <a:r>
              <a:rPr lang="en-US" altLang="en-US" sz="3200" b="1" dirty="0">
                <a:latin typeface="Arial" panose="020B0604020202020204" pitchFamily="34" charset="0"/>
              </a:rPr>
              <a:t>deep learning</a:t>
            </a:r>
            <a:r>
              <a:rPr lang="en-US" altLang="en-US" sz="3200" dirty="0">
                <a:latin typeface="Arial" panose="020B0604020202020204" pitchFamily="34" charset="0"/>
              </a:rPr>
              <a:t> models trained on real-time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Incorporate </a:t>
            </a:r>
            <a:r>
              <a:rPr lang="en-US" altLang="en-US" sz="3200" b="1" dirty="0">
                <a:latin typeface="Arial" panose="020B0604020202020204" pitchFamily="34" charset="0"/>
              </a:rPr>
              <a:t>news sentiment</a:t>
            </a:r>
            <a:r>
              <a:rPr lang="en-US" altLang="en-US" sz="3200" dirty="0">
                <a:latin typeface="Arial" panose="020B0604020202020204" pitchFamily="34" charset="0"/>
              </a:rPr>
              <a:t> using </a:t>
            </a:r>
            <a:r>
              <a:rPr lang="en-US" altLang="en-US" sz="3200" b="1" dirty="0">
                <a:latin typeface="Arial" panose="020B0604020202020204" pitchFamily="34" charset="0"/>
              </a:rPr>
              <a:t>NLP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Provide predictions through a user-friendly </a:t>
            </a:r>
            <a:r>
              <a:rPr lang="en-US" altLang="en-US" sz="3200" b="1" dirty="0">
                <a:latin typeface="Arial" panose="020B0604020202020204" pitchFamily="34" charset="0"/>
              </a:rPr>
              <a:t>web interface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717BD9B-0238-845D-B19D-FEA8A54A1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901031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31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8F76BA-4DD6-B396-C15D-93A81A4A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25CDD4-DB94-8623-36E2-E9055E4C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&amp; Goals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39C27A0-7980-A12A-8A26-C488F9FAB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40" y="1465073"/>
            <a:ext cx="18650173" cy="951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real-time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prediction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advanced deep learning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combine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indicators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sentiment analysis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context-aware forecasting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and compare the performance of: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for learning long-term market trends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for capturing complex dependencies and sentiment shifts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scalable, full-stack web application using: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(Backend)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(Frontend)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model communication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 Enable interactive visualizations of predictions and market trends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Arial" panose="020B0604020202020204" pitchFamily="34" charset="0"/>
              </a:rPr>
              <a:t> Key Goals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 Achieve high prediction accuracy using real stock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 Integrate </a:t>
            </a:r>
            <a:r>
              <a:rPr lang="en-US" altLang="en-US" sz="3200" b="1" dirty="0">
                <a:latin typeface="Arial" panose="020B0604020202020204" pitchFamily="34" charset="0"/>
              </a:rPr>
              <a:t>NLP-based sentiment scoring</a:t>
            </a:r>
            <a:r>
              <a:rPr lang="en-US" altLang="en-US" sz="3200" dirty="0">
                <a:latin typeface="Arial" panose="020B0604020202020204" pitchFamily="34" charset="0"/>
              </a:rPr>
              <a:t> from live news articles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 Make the system modular and extensible for future improvements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0B66E2-C2D8-2C02-0267-3FCC7FA3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901031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3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D4D361-63A8-1419-B8D5-4AE13552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System Architecture</a:t>
            </a:r>
            <a:endParaRPr lang="en-IN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A81B5D-0B6B-3A91-9006-CF292686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16188608" cy="1284692"/>
          </a:xfrm>
        </p:spPr>
        <p:txBody>
          <a:bodyPr>
            <a:normAutofit/>
          </a:bodyPr>
          <a:lstStyle/>
          <a:p>
            <a:r>
              <a:rPr lang="en-US" sz="4000" dirty="0"/>
              <a:t>🛠️ Overview                                                                       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6F52-C7D9-268D-5E09-938DAB4BA212}"/>
              </a:ext>
            </a:extLst>
          </p:cNvPr>
          <p:cNvSpPr txBox="1"/>
          <p:nvPr/>
        </p:nvSpPr>
        <p:spPr>
          <a:xfrm>
            <a:off x="1309436" y="3906061"/>
            <a:ext cx="8042253" cy="5745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1425732">
              <a:lnSpc>
                <a:spcPct val="90000"/>
              </a:lnSpc>
              <a:spcBef>
                <a:spcPts val="1559"/>
              </a:spcBef>
            </a:pPr>
            <a:r>
              <a:rPr lang="en-US" sz="3100" dirty="0"/>
              <a:t>The Smart Stock Predictor follows a </a:t>
            </a:r>
            <a:r>
              <a:rPr lang="en-US" sz="3100" b="1" dirty="0"/>
              <a:t>modular, full-stack architecture</a:t>
            </a:r>
            <a:r>
              <a:rPr lang="en-US" sz="3100" dirty="0"/>
              <a:t> consisting of:</a:t>
            </a:r>
          </a:p>
          <a:p>
            <a:pPr marL="356433" indent="-356433" defTabSz="1425732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</a:pPr>
            <a:r>
              <a:rPr lang="en-US" sz="3100" b="1" dirty="0"/>
              <a:t>Data Collection Layer</a:t>
            </a:r>
            <a:endParaRPr lang="en-US" sz="3100" dirty="0"/>
          </a:p>
          <a:p>
            <a:pPr marL="356433" indent="-356433" defTabSz="1425732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</a:pPr>
            <a:r>
              <a:rPr lang="en-US" sz="3100" b="1" dirty="0"/>
              <a:t>Preprocessing &amp; Feature Engineering Layer</a:t>
            </a:r>
            <a:endParaRPr lang="en-US" sz="3100" dirty="0"/>
          </a:p>
          <a:p>
            <a:pPr marL="356433" indent="-356433" defTabSz="1425732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</a:pPr>
            <a:r>
              <a:rPr lang="en-US" sz="3100" b="1" dirty="0"/>
              <a:t>Model Training &amp; Inference Layer</a:t>
            </a:r>
            <a:endParaRPr lang="en-US" sz="3100" dirty="0"/>
          </a:p>
          <a:p>
            <a:pPr marL="356433" indent="-356433" defTabSz="1425732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</a:pPr>
            <a:r>
              <a:rPr lang="en-US" sz="3100" b="1" dirty="0"/>
              <a:t>API Layer</a:t>
            </a:r>
            <a:endParaRPr lang="en-US" sz="3100" dirty="0"/>
          </a:p>
          <a:p>
            <a:pPr marL="356433" indent="-356433" defTabSz="1425732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</a:pPr>
            <a:r>
              <a:rPr lang="en-US" sz="3100" b="1" dirty="0"/>
              <a:t>Frontend Visualization</a:t>
            </a:r>
            <a:endParaRPr lang="en-US" sz="3100" dirty="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AC6253-126C-1D05-8AC1-6987A04BF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971" y="4828927"/>
            <a:ext cx="8081859" cy="389949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DB998-315A-0BF0-09CC-994DB490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8699A-E851-0942-D22D-14EC2CBAE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516" y="2478678"/>
            <a:ext cx="82867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7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BC963-3018-D783-8D51-F51CA190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074A7-B4AE-BD30-F7A5-95EA48AA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513" y="868343"/>
            <a:ext cx="16397287" cy="1698646"/>
          </a:xfrm>
        </p:spPr>
        <p:txBody>
          <a:bodyPr anchor="ctr"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Technologies Used</a:t>
            </a:r>
            <a:endParaRPr lang="en-IN" dirty="0"/>
          </a:p>
        </p:txBody>
      </p:sp>
      <p:pic>
        <p:nvPicPr>
          <p:cNvPr id="7" name="Content Placeholder 6" descr="A screenshot of a black screen">
            <a:extLst>
              <a:ext uri="{FF2B5EF4-FFF2-40B4-BE49-F238E27FC236}">
                <a16:creationId xmlns:a16="http://schemas.microsoft.com/office/drawing/2014/main" id="{AB46A2A2-3888-10ED-3256-4765B85B2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513" y="3184882"/>
            <a:ext cx="16397287" cy="6107987"/>
          </a:xfrm>
          <a:noFill/>
        </p:spPr>
      </p:pic>
    </p:spTree>
    <p:extLst>
      <p:ext uri="{BB962C8B-B14F-4D97-AF65-F5344CB8AC3E}">
        <p14:creationId xmlns:p14="http://schemas.microsoft.com/office/powerpoint/2010/main" val="47577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17AEDD-1242-AB45-71AA-39E63A7E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</p:spPr>
        <p:txBody>
          <a:bodyPr anchor="ctr"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LSTM Model Architecture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FA5C80-97EB-C8F8-1903-8134A22EC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959" y="2846622"/>
            <a:ext cx="8079383" cy="76126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LSTM?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Recurrent Neural Network (RNN) designed to capture long-term dependencies in sequential data — ideal for analyzing stock price trends over time.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Used in This Project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Shape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60 time steps × 19 features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(OHLCV + SMA, EMA, RSI, MACD, Bollinger Bands, ATR + Sentiment)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Layers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LSTM layers (150 units each, with recurrent dropout)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Batch Normalization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 Layer (rate: 0.4)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Dense Output Layer (1 unit for price prediction)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 Squared Error (MSE)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Adam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Epochs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 to 100 (with Early Stopping &amp; Learning Rate Scheduling)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8" name="Content Placeholder 7" descr="A diagram of a computer">
            <a:extLst>
              <a:ext uri="{FF2B5EF4-FFF2-40B4-BE49-F238E27FC236}">
                <a16:creationId xmlns:a16="http://schemas.microsoft.com/office/drawing/2014/main" id="{5DBDB47F-09BE-1A59-9232-289BFCD670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971" y="3573864"/>
            <a:ext cx="8079383" cy="5330381"/>
          </a:xfrm>
          <a:noFill/>
        </p:spPr>
      </p:pic>
    </p:spTree>
    <p:extLst>
      <p:ext uri="{BB962C8B-B14F-4D97-AF65-F5344CB8AC3E}">
        <p14:creationId xmlns:p14="http://schemas.microsoft.com/office/powerpoint/2010/main" val="258592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0061-A234-2608-AF4E-B8CDE26F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</p:spPr>
        <p:txBody>
          <a:bodyPr anchor="ctr">
            <a:normAutofit/>
          </a:bodyPr>
          <a:lstStyle/>
          <a:p>
            <a:r>
              <a:rPr lang="en-US" b="1" dirty="0"/>
              <a:t>Transformer Model Architecture</a:t>
            </a:r>
            <a:endParaRPr lang="en-IN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57A2A62-E2B6-334E-7CAD-AE8372B2E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173" y="2336568"/>
            <a:ext cx="9466318" cy="835683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a Transformer?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 model built on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Unlike LSTM, it processes all time steps in parallel and captures both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 and long-term dependencies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relying on recurrence.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Originally designed for NLP, it has proven highly effective in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when data is affected by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events like news or sentiment shifts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Used in This Project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Shape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60 time steps × 19 features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(Includes price, volume, indicators &amp; sentiment)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Layers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Dense Layer (projects 19 → 64 dimensions)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Positional Encoding (adds time-step information)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Transformer Encoder Blocks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(Each with 4-head self-attention, feed-forward, layer norm, dropout)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Average Pooling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Dense Layer (64 units, ReLU)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 Layer (rate: 0.2)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Dense Output Layer (1 unit, linear activation)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MSE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Adam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Epochs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 to 150 (with Early Stopping &amp; LR Reduction)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55B41-F3A3-E28E-7751-4DD802C7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B3A07-2F09-3274-87D4-E75E3CF3B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268" y="2336568"/>
            <a:ext cx="7588864" cy="785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8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2AC6-7EC7-46F7-6B40-3D6C96B0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</p:spPr>
        <p:txBody>
          <a:bodyPr anchor="ctr">
            <a:normAutofit/>
          </a:bodyPr>
          <a:lstStyle/>
          <a:p>
            <a:r>
              <a:rPr lang="en-US" b="1" dirty="0"/>
              <a:t> Data Collection &amp; Preprocessing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96A09-F096-C906-AD6B-96A918D0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30141D-FF2D-85E3-B4B7-F0394DE040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251834"/>
              </p:ext>
            </p:extLst>
          </p:nvPr>
        </p:nvGraphicFramePr>
        <p:xfrm>
          <a:off x="792188" y="2970436"/>
          <a:ext cx="15817778" cy="6552728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4320091">
                  <a:extLst>
                    <a:ext uri="{9D8B030D-6E8A-4147-A177-3AD203B41FA5}">
                      <a16:colId xmlns:a16="http://schemas.microsoft.com/office/drawing/2014/main" val="1491677498"/>
                    </a:ext>
                  </a:extLst>
                </a:gridCol>
                <a:gridCol w="6273691">
                  <a:extLst>
                    <a:ext uri="{9D8B030D-6E8A-4147-A177-3AD203B41FA5}">
                      <a16:colId xmlns:a16="http://schemas.microsoft.com/office/drawing/2014/main" val="2154180802"/>
                    </a:ext>
                  </a:extLst>
                </a:gridCol>
                <a:gridCol w="5223996">
                  <a:extLst>
                    <a:ext uri="{9D8B030D-6E8A-4147-A177-3AD203B41FA5}">
                      <a16:colId xmlns:a16="http://schemas.microsoft.com/office/drawing/2014/main" val="1912736785"/>
                    </a:ext>
                  </a:extLst>
                </a:gridCol>
              </a:tblGrid>
              <a:tr h="1636186">
                <a:tc>
                  <a:txBody>
                    <a:bodyPr/>
                    <a:lstStyle/>
                    <a:p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66079"/>
                  </a:ext>
                </a:extLst>
              </a:tr>
              <a:tr h="2458271">
                <a:tc>
                  <a:txBody>
                    <a:bodyPr/>
                    <a:lstStyle/>
                    <a:p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Stock Prices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3300" cap="none" spc="0">
                          <a:solidFill>
                            <a:schemeClr val="tx1"/>
                          </a:solidFill>
                        </a:rPr>
                        <a:t>NSE API, Alpha Vantage, yfinance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OHLCV data for 21+ days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320850"/>
                  </a:ext>
                </a:extLst>
              </a:tr>
              <a:tr h="2458271">
                <a:tc>
                  <a:txBody>
                    <a:bodyPr/>
                    <a:lstStyle/>
                    <a:p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News Articles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NewsAPI, GNews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cap="none" spc="0" dirty="0">
                          <a:solidFill>
                            <a:schemeClr val="tx1"/>
                          </a:solidFill>
                        </a:rPr>
                        <a:t>Sentiment analysis (NLP)</a:t>
                      </a:r>
                    </a:p>
                  </a:txBody>
                  <a:tcPr marL="291979" marR="291979" marT="251460" marB="1459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992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66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164B2-A2B2-2C15-9FF2-76534433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10</a:t>
            </a:fld>
            <a:endParaRPr lang="en-IN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F45D9F8-F831-9500-155F-138B7DC82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4160"/>
            <a:ext cx="19010313" cy="898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Why?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conditions change quickly. Fine-tuning ensures the model adapts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price and sentiment shifts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data (last 7 days) fetched via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fetch_last_60_minutes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update weights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learning rate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retraining from scratch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Retains previously learned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 Epochs: 15–20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Rate: 0.0001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Size: 16–32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 Training Tools Used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TensorFlow / Keras APIs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Real-time logs of: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Loss curves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Learning rate drops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Validation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85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17A2-5F2F-46FF-4406-C4DF7020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</p:spPr>
        <p:txBody>
          <a:bodyPr anchor="ctr">
            <a:normAutofit/>
          </a:bodyPr>
          <a:lstStyle/>
          <a:p>
            <a:r>
              <a:rPr lang="en-US" b="1" dirty="0"/>
              <a:t>Prediction &amp; Visualization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F1D1B1-2CCF-884E-8543-90A2004467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306959" y="2846623"/>
            <a:ext cx="8079383" cy="67848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Prediction Output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User selects a stock (e.g.,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RELIANCE.NS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Backend fetches latest stock + news data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Models (LSTM &amp; Transformer) predict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next closing price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Results returned via REST API in JSON format: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json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6F6F7C59-DA8A-8C9C-5037-0484F4917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8" t="3650" r="12344" b="7529"/>
          <a:stretch>
            <a:fillRect/>
          </a:stretch>
        </p:blipFill>
        <p:spPr>
          <a:xfrm>
            <a:off x="10138741" y="2250356"/>
            <a:ext cx="8079383" cy="712879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377FE-6D00-BBD6-9088-5C24CADF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76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195E-8075-7F0C-0C23-F244FDF8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</p:spPr>
        <p:txBody>
          <a:bodyPr anchor="ctr">
            <a:normAutofit/>
          </a:bodyPr>
          <a:lstStyle/>
          <a:p>
            <a:r>
              <a:rPr lang="en-IN" dirty="0"/>
              <a:t>📈 </a:t>
            </a:r>
            <a:r>
              <a:rPr lang="en-IN" b="1" dirty="0"/>
              <a:t>Results &amp; Analysis</a:t>
            </a:r>
            <a:endParaRPr lang="en-IN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BE55CB2-24D7-45AB-85BD-9DD63CCE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6959" y="9911198"/>
            <a:ext cx="4277320" cy="5693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BE71818-9020-4445-8B08-F0BF46B2FEC8}" type="datetime1">
              <a:rPr lang="en-IN" smtClean="0"/>
              <a:pPr>
                <a:spcAft>
                  <a:spcPts val="600"/>
                </a:spcAft>
              </a:pPr>
              <a:t>08-07-2025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5E5B2-0D65-E102-9379-E9CB5A98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12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A6D76F-155C-F03A-AB2C-84496662B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415008"/>
              </p:ext>
            </p:extLst>
          </p:nvPr>
        </p:nvGraphicFramePr>
        <p:xfrm>
          <a:off x="1306959" y="3042444"/>
          <a:ext cx="16396398" cy="483574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75547">
                  <a:extLst>
                    <a:ext uri="{9D8B030D-6E8A-4147-A177-3AD203B41FA5}">
                      <a16:colId xmlns:a16="http://schemas.microsoft.com/office/drawing/2014/main" val="275420468"/>
                    </a:ext>
                  </a:extLst>
                </a:gridCol>
                <a:gridCol w="2836290">
                  <a:extLst>
                    <a:ext uri="{9D8B030D-6E8A-4147-A177-3AD203B41FA5}">
                      <a16:colId xmlns:a16="http://schemas.microsoft.com/office/drawing/2014/main" val="3253015619"/>
                    </a:ext>
                  </a:extLst>
                </a:gridCol>
                <a:gridCol w="2372275">
                  <a:extLst>
                    <a:ext uri="{9D8B030D-6E8A-4147-A177-3AD203B41FA5}">
                      <a16:colId xmlns:a16="http://schemas.microsoft.com/office/drawing/2014/main" val="563527415"/>
                    </a:ext>
                  </a:extLst>
                </a:gridCol>
                <a:gridCol w="2147518">
                  <a:extLst>
                    <a:ext uri="{9D8B030D-6E8A-4147-A177-3AD203B41FA5}">
                      <a16:colId xmlns:a16="http://schemas.microsoft.com/office/drawing/2014/main" val="2773556475"/>
                    </a:ext>
                  </a:extLst>
                </a:gridCol>
                <a:gridCol w="2129394">
                  <a:extLst>
                    <a:ext uri="{9D8B030D-6E8A-4147-A177-3AD203B41FA5}">
                      <a16:colId xmlns:a16="http://schemas.microsoft.com/office/drawing/2014/main" val="3182955198"/>
                    </a:ext>
                  </a:extLst>
                </a:gridCol>
                <a:gridCol w="1778483">
                  <a:extLst>
                    <a:ext uri="{9D8B030D-6E8A-4147-A177-3AD203B41FA5}">
                      <a16:colId xmlns:a16="http://schemas.microsoft.com/office/drawing/2014/main" val="2306677647"/>
                    </a:ext>
                  </a:extLst>
                </a:gridCol>
                <a:gridCol w="2056891">
                  <a:extLst>
                    <a:ext uri="{9D8B030D-6E8A-4147-A177-3AD203B41FA5}">
                      <a16:colId xmlns:a16="http://schemas.microsoft.com/office/drawing/2014/main" val="1098266104"/>
                    </a:ext>
                  </a:extLst>
                </a:gridCol>
              </a:tblGrid>
              <a:tr h="222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Predicted Price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Actual Price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MSE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RMSE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MAE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700" b="0" cap="none" spc="60">
                          <a:solidFill>
                            <a:schemeClr val="bg1"/>
                          </a:solidFill>
                        </a:rPr>
                        <a:t>R² Score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29786"/>
                  </a:ext>
                </a:extLst>
              </a:tr>
              <a:tr h="130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cap="none" spc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IN" sz="3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₹1467.48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₹1517.10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1067.27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32.66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28.84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-0.1383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021501"/>
                  </a:ext>
                </a:extLst>
              </a:tr>
              <a:tr h="130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cap="none" spc="0">
                          <a:solidFill>
                            <a:schemeClr val="tx1"/>
                          </a:solidFill>
                        </a:rPr>
                        <a:t>Transformer</a:t>
                      </a:r>
                      <a:endParaRPr lang="en-IN" sz="3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₹1501.04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₹1517.10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258.67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16.08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14.22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cap="none" spc="0" dirty="0">
                          <a:solidFill>
                            <a:schemeClr val="tx1"/>
                          </a:solidFill>
                        </a:rPr>
                        <a:t>0.6417</a:t>
                      </a:r>
                    </a:p>
                  </a:txBody>
                  <a:tcPr marL="208807" marR="208807" marT="208807" marB="1044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39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42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D9658-A2AF-CC57-CB77-2718C4F1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6959" y="9911198"/>
            <a:ext cx="4277320" cy="5693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BE71818-9020-4445-8B08-F0BF46B2FEC8}" type="datetime1">
              <a:rPr lang="en-IN" smtClean="0"/>
              <a:pPr>
                <a:spcAft>
                  <a:spcPts val="600"/>
                </a:spcAft>
              </a:pPr>
              <a:t>08-07-2025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ADEA2-85BB-37A7-0FF6-C7E84EA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C7CF5C-16A0-4876-B638-15BC6385E45C}" type="slidenum">
              <a:rPr lang="en-IN" smtClean="0"/>
              <a:pPr>
                <a:spcAft>
                  <a:spcPts val="600"/>
                </a:spcAft>
              </a:pPr>
              <a:t>13</a:t>
            </a:fld>
            <a:endParaRPr lang="en-IN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39F490E-87B2-7D72-6FBD-48BAA3AB7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3" y="1098228"/>
            <a:ext cx="16397287" cy="85331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R="0"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</a:rPr>
              <a:t> Metric Insights</a:t>
            </a:r>
          </a:p>
          <a:p>
            <a:pPr marL="356433" marR="0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</a:rPr>
              <a:t>Transformer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 performed better overall:</a:t>
            </a:r>
          </a:p>
          <a:p>
            <a:pPr marL="356433" marR="0" lvl="1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Lower error values (MSE, MAE, RMSE)</a:t>
            </a:r>
          </a:p>
          <a:p>
            <a:pPr marL="356433" marR="0" lvl="1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More adaptable to real-time sentiment</a:t>
            </a:r>
          </a:p>
          <a:p>
            <a:pPr marL="356433" marR="0" lvl="1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</a:rPr>
              <a:t>LSTM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 lagged slightly behind:</a:t>
            </a:r>
          </a:p>
          <a:p>
            <a:pPr marL="356433" marR="0" lvl="1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Stronger on long-term trend learning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</a:rPr>
              <a:t>Less responsive to sudden market shifts</a:t>
            </a:r>
          </a:p>
          <a:p>
            <a:pPr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</a:pPr>
            <a:r>
              <a:rPr lang="en-US" altLang="en-US" sz="4000" b="1" dirty="0"/>
              <a:t> </a:t>
            </a:r>
          </a:p>
          <a:p>
            <a:pPr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</a:pPr>
            <a:r>
              <a:rPr lang="en-US" altLang="en-US" sz="4000" b="1" dirty="0"/>
              <a:t>Sentiment Integration Impact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Positive sentiment score (+0.34) boosted prediction accuracy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Transformer dynamically adjusted to news-driven volatility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Sentiment proved to be a </a:t>
            </a:r>
            <a:r>
              <a:rPr lang="en-US" altLang="en-US" sz="4000" b="1" dirty="0"/>
              <a:t>key feature</a:t>
            </a:r>
            <a:r>
              <a:rPr lang="en-US" altLang="en-US" sz="4000" dirty="0"/>
              <a:t> in short-term forecasting</a:t>
            </a:r>
          </a:p>
          <a:p>
            <a:pPr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</a:pPr>
            <a:r>
              <a:rPr lang="en-US" altLang="en-US" sz="4000" b="1" dirty="0"/>
              <a:t> </a:t>
            </a:r>
          </a:p>
          <a:p>
            <a:pPr lvl="0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</a:pPr>
            <a:r>
              <a:rPr lang="en-US" altLang="en-US" sz="4000" b="1" dirty="0"/>
              <a:t>Visual Outputs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Line charts: Predicted vs Actual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Radar chart: Metric comparison across models</a:t>
            </a:r>
          </a:p>
          <a:p>
            <a:pPr marL="356433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Dynamic charts rendered using </a:t>
            </a:r>
            <a:r>
              <a:rPr lang="en-US" altLang="en-US" sz="4000" b="1" dirty="0"/>
              <a:t>react-chartjs-2</a:t>
            </a:r>
            <a:endParaRPr lang="en-US" altLang="en-US" sz="4000" dirty="0"/>
          </a:p>
          <a:p>
            <a:pPr marL="356433" marR="0" lvl="1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56433" marR="0" lvl="0" indent="-356433" defTabSz="1425732" fontAlgn="base">
              <a:lnSpc>
                <a:spcPct val="90000"/>
              </a:lnSpc>
              <a:spcBef>
                <a:spcPts val="1559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3131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D1B43-09FA-3DB7-8C0B-66CE4786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1AFC-9F3B-438B-B10C-E9A9073FAD5F}" type="datetime1">
              <a:rPr lang="en-IN" smtClean="0"/>
              <a:t>08-07-2025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F0637-0C7D-D89B-0CC3-0529C5E7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14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A8ADE8-3DB5-CD62-DCE7-8A19BCA7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Conclusion &amp; Future Scope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04A701-CDCB-C391-6EB9-0A569F998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Successfully built a </a:t>
            </a:r>
            <a:r>
              <a:rPr lang="en-US" b="1" dirty="0"/>
              <a:t>real-time stock prediction system</a:t>
            </a:r>
            <a:r>
              <a:rPr lang="en-US" dirty="0"/>
              <a:t> using:</a:t>
            </a:r>
          </a:p>
          <a:p>
            <a:pPr lvl="1"/>
            <a:r>
              <a:rPr lang="en-US" dirty="0"/>
              <a:t>Deep learning models (</a:t>
            </a:r>
            <a:r>
              <a:rPr lang="en-US" b="1" dirty="0"/>
              <a:t>LSTM</a:t>
            </a:r>
            <a:r>
              <a:rPr lang="en-US" dirty="0"/>
              <a:t> and </a:t>
            </a:r>
            <a:r>
              <a:rPr lang="en-US" b="1" dirty="0"/>
              <a:t>Transformer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Technical indicators</a:t>
            </a:r>
            <a:r>
              <a:rPr lang="en-US" dirty="0"/>
              <a:t> + </a:t>
            </a:r>
            <a:r>
              <a:rPr lang="en-US" b="1" dirty="0"/>
              <a:t>News sentiment (NLP)</a:t>
            </a:r>
            <a:endParaRPr lang="en-US" dirty="0"/>
          </a:p>
          <a:p>
            <a:r>
              <a:rPr lang="en-US" dirty="0"/>
              <a:t>Achieved meaningful prediction accuracy using real data</a:t>
            </a:r>
          </a:p>
          <a:p>
            <a:r>
              <a:rPr lang="en-US" dirty="0"/>
              <a:t>Integrated predictions into a full-stack app using:</a:t>
            </a:r>
          </a:p>
          <a:p>
            <a:pPr lvl="1"/>
            <a:r>
              <a:rPr lang="en-US" b="1" dirty="0"/>
              <a:t>Django (backend)</a:t>
            </a:r>
            <a:endParaRPr lang="en-US" dirty="0"/>
          </a:p>
          <a:p>
            <a:pPr lvl="1"/>
            <a:r>
              <a:rPr lang="en-US" b="1" dirty="0"/>
              <a:t>React (frontend)</a:t>
            </a:r>
            <a:endParaRPr lang="en-US" dirty="0"/>
          </a:p>
          <a:p>
            <a:pPr lvl="1"/>
            <a:r>
              <a:rPr lang="en-US" b="1" dirty="0"/>
              <a:t>REST APIs + Interactive charts</a:t>
            </a:r>
          </a:p>
          <a:p>
            <a:pPr marL="712866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 A powerful, AI-based platform for </a:t>
            </a:r>
            <a:r>
              <a:rPr lang="en-US" b="1" dirty="0"/>
              <a:t>informed stock forecasting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51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B8730-CC22-A6F7-9459-584E94634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1AFC-9F3B-438B-B10C-E9A9073FAD5F}" type="datetime1">
              <a:rPr lang="en-IN" smtClean="0"/>
              <a:t>08-07-2025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340FE-8F5A-EF7C-F381-8371C11B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CF5C-16A0-4876-B638-15BC6385E45C}" type="slidenum">
              <a:rPr lang="en-IN" smtClean="0"/>
              <a:t>15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3CF8A5-842B-A92B-FBA5-F63820BF5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513" y="1170236"/>
            <a:ext cx="16397287" cy="846112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Future Scope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 Integrate </a:t>
            </a:r>
            <a:r>
              <a:rPr lang="en-IN" b="1" dirty="0"/>
              <a:t>advanced NLP models</a:t>
            </a:r>
            <a:r>
              <a:rPr lang="en-IN" dirty="0"/>
              <a:t> (like </a:t>
            </a:r>
            <a:r>
              <a:rPr lang="en-IN" dirty="0" err="1"/>
              <a:t>FinBERT</a:t>
            </a:r>
            <a:r>
              <a:rPr lang="en-IN" dirty="0"/>
              <a:t>) for deeper sentiment insights</a:t>
            </a:r>
          </a:p>
          <a:p>
            <a:r>
              <a:rPr lang="en-IN" dirty="0"/>
              <a:t> Extend support to </a:t>
            </a:r>
            <a:r>
              <a:rPr lang="en-IN" b="1" dirty="0"/>
              <a:t>multi-stock portfolio prediction</a:t>
            </a:r>
            <a:endParaRPr lang="en-IN" dirty="0"/>
          </a:p>
          <a:p>
            <a:r>
              <a:rPr lang="en-IN" dirty="0"/>
              <a:t> Deploy to </a:t>
            </a:r>
            <a:r>
              <a:rPr lang="en-IN" b="1" dirty="0"/>
              <a:t>cloud platforms</a:t>
            </a:r>
            <a:r>
              <a:rPr lang="en-IN" dirty="0"/>
              <a:t> for real-time public use</a:t>
            </a:r>
          </a:p>
          <a:p>
            <a:r>
              <a:rPr lang="en-IN" dirty="0"/>
              <a:t> Add </a:t>
            </a:r>
            <a:r>
              <a:rPr lang="en-IN" b="1" dirty="0"/>
              <a:t>confidence intervals</a:t>
            </a:r>
            <a:r>
              <a:rPr lang="en-IN" dirty="0"/>
              <a:t> and prediction explainability using SHAP/LIME</a:t>
            </a:r>
          </a:p>
          <a:p>
            <a:r>
              <a:rPr lang="en-IN" dirty="0"/>
              <a:t> Build a </a:t>
            </a:r>
            <a:r>
              <a:rPr lang="en-IN" b="1" dirty="0"/>
              <a:t>mobile app version</a:t>
            </a:r>
            <a:r>
              <a:rPr lang="en-IN" dirty="0"/>
              <a:t> for broader accessibility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96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6537</TotalTime>
  <Words>1206</Words>
  <Application>Microsoft Office PowerPoint</Application>
  <PresentationFormat>Custom</PresentationFormat>
  <Paragraphs>212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Arial Rounded MT Bold</vt:lpstr>
      <vt:lpstr>Arial Unicode MS</vt:lpstr>
      <vt:lpstr>Calibri</vt:lpstr>
      <vt:lpstr>Source Sans Pro Light</vt:lpstr>
      <vt:lpstr>Times New Roman</vt:lpstr>
      <vt:lpstr>Office Theme</vt:lpstr>
      <vt:lpstr>PowerPoint Presentation</vt:lpstr>
      <vt:lpstr> Project Introduction – Smart Stock Predictor</vt:lpstr>
      <vt:lpstr> Problem Statement &amp; Motivation </vt:lpstr>
      <vt:lpstr>Objectives &amp; Goals</vt:lpstr>
      <vt:lpstr> System Architecture</vt:lpstr>
      <vt:lpstr> Technologies Used</vt:lpstr>
      <vt:lpstr> LSTM Model Architecture</vt:lpstr>
      <vt:lpstr>Transformer Model Architecture</vt:lpstr>
      <vt:lpstr> Data Collection &amp; Preprocessing</vt:lpstr>
      <vt:lpstr>PowerPoint Presentation</vt:lpstr>
      <vt:lpstr>Prediction &amp; Visualization</vt:lpstr>
      <vt:lpstr>📈 Results &amp; Analysis</vt:lpstr>
      <vt:lpstr>PowerPoint Presentation</vt:lpstr>
      <vt:lpstr> 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Kumar Bairwa</dc:creator>
  <cp:lastModifiedBy>Apoorv Dubey</cp:lastModifiedBy>
  <cp:revision>143</cp:revision>
  <dcterms:created xsi:type="dcterms:W3CDTF">2020-08-15T05:33:01Z</dcterms:created>
  <dcterms:modified xsi:type="dcterms:W3CDTF">2025-07-08T17:42:25Z</dcterms:modified>
</cp:coreProperties>
</file>